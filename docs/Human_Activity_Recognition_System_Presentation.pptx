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2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23B"/>
                </a:solidFill>
                <a:latin typeface="Calibri"/>
              </a:rPr>
              <a:t>Training vs Validation Accuracy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1B3B6F"/>
            </a:solidFill>
            <a:ln w="31750" cap="flat">
              <a:solidFill>
                <a:srgbClr val="1B3B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708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B3B6F"/>
              </a:solidFill>
              <a:ln w="9525" cap="flat">
                <a:solidFill>
                  <a:srgbClr val="1B3B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0.42</c:v>
                </c:pt>
                <c:pt idx="1">
                  <c:v>0.61</c:v>
                </c:pt>
                <c:pt idx="2">
                  <c:v>0.74</c:v>
                </c:pt>
                <c:pt idx="3">
                  <c:v>0.82</c:v>
                </c:pt>
                <c:pt idx="4">
                  <c:v>0.87</c:v>
                </c:pt>
                <c:pt idx="5">
                  <c:v>0.9</c:v>
                </c:pt>
                <c:pt idx="6">
                  <c:v>0.93</c:v>
                </c:pt>
                <c:pt idx="7">
                  <c:v>0.95</c:v>
                </c:pt>
                <c:pt idx="8">
                  <c:v>0.965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2F80ED"/>
            </a:solidFill>
            <a:ln w="31750" cap="flat">
              <a:solidFill>
                <a:srgbClr val="2F80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708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F80ED"/>
              </a:solidFill>
              <a:ln w="9525" cap="flat">
                <a:solidFill>
                  <a:srgbClr val="2F80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0.38</c:v>
                </c:pt>
                <c:pt idx="1">
                  <c:v>0.55</c:v>
                </c:pt>
                <c:pt idx="2">
                  <c:v>0.68</c:v>
                </c:pt>
                <c:pt idx="3">
                  <c:v>0.77</c:v>
                </c:pt>
                <c:pt idx="4">
                  <c:v>0.83</c:v>
                </c:pt>
                <c:pt idx="5">
                  <c:v>0.87</c:v>
                </c:pt>
                <c:pt idx="6">
                  <c:v>0.9</c:v>
                </c:pt>
                <c:pt idx="7">
                  <c:v>0.918</c:v>
                </c:pt>
                <c:pt idx="8">
                  <c:v>0.925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708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70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708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2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6223B"/>
                </a:solidFill>
                <a:latin typeface="Calibri"/>
              </a:rPr>
              <a:t>Key Metrics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2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92.5</c:v>
                </c:pt>
                <c:pt idx="1">
                  <c:v>91.8</c:v>
                </c:pt>
                <c:pt idx="2">
                  <c:v>92.1</c:v>
                </c:pt>
                <c:pt idx="3">
                  <c:v>91.9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2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70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  •  ARTIFICIAL INTELLIGENCE &amp; MACHINE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Activity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99923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Movement. Understanding Action. Enabling Real-Time Insight.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4480560"/>
            <a:ext cx="4206240" cy="0"/>
          </a:xfrm>
          <a:prstGeom prst="line">
            <a:avLst/>
          </a:prstGeom>
          <a:noFill/>
          <a:ln w="12700">
            <a:solidFill>
              <a:srgbClr val="2C4A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Akkisetti Ganesh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102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12524619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55595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5532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Applications (MCA)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60807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22406B"/>
          </a:solidFill>
          <a:ln w="12700">
            <a:solidFill>
              <a:srgbClr val="35548A"/>
            </a:solidFill>
            <a:prstDash val="solid"/>
          </a:ln>
        </p:spPr>
      </p:sp>
      <p:pic>
        <p:nvPicPr>
          <p:cNvPr id="17" name="Image 0" descr="/home/claude/har_ppt/icons/streamli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6181344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4440" y="6080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using Streamlit</a:t>
            </a:r>
            <a:endParaRPr lang="en-US" sz="1150" dirty="0"/>
          </a:p>
        </p:txBody>
      </p:sp>
      <p:pic>
        <p:nvPicPr>
          <p:cNvPr id="19" name="Image 1" descr="/home/claude/har_ppt/icons/pose-her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914400"/>
            <a:ext cx="3246120" cy="45445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818120" y="5623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• 33 Landmarks • Stacked LSTM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Proposed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EAF2FB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566928" cy="56692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7" name="Image 0" descr="/home/claude/har_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25135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video monitoring is inefficient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human supervision does not scale and is error-prone.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60120" y="3291840"/>
            <a:ext cx="566928" cy="56692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1" name="Image 1" descr="/home/claude/har_ppt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183" y="34279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require instant detection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9164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 during emergencies can be critical.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960120" y="4206240"/>
            <a:ext cx="566928" cy="56692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5" name="Image 2" descr="/home/claude/har_ppt/icons/sens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434230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sensors are uncomfortable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69164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Body-worn devices affect user comfort and daily routine.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60120" y="5120640"/>
            <a:ext cx="566928" cy="56692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9" name="Image 3" descr="/home/claude/har_ppt/icons/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183" y="5256703"/>
            <a:ext cx="294803" cy="2948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102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integrated lightweight AI solutions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691640" y="5394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combine pose, sequence and prediction end-to-end.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09360" y="160020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629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629400" y="2377440"/>
            <a:ext cx="566928" cy="56692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5" name="Image 4" descr="/home/claude/har_ppt/icons/po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463" y="251350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6092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pose detection using MediaPipe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36092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33 body landmarks per frame instantly.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629400" y="3291840"/>
            <a:ext cx="566928" cy="56692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9" name="Image 5" descr="/home/claude/har_ppt/icons/brai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5463" y="3427903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6092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 using stacked LSTM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36092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temporal motion patterns across frame sequences.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629400" y="4206240"/>
            <a:ext cx="566928" cy="56692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3" name="Image 6" descr="/home/claude/har_ppt/icons/uploa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5463" y="4342303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60920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and uploaded video support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36092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input from live camera or recorded files.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6629400" y="5120640"/>
            <a:ext cx="566928" cy="56692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7" name="Image 7" descr="/home/claude/har_ppt/icons/window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463" y="5256703"/>
            <a:ext cx="294803" cy="29480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360920" y="5102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Streamlit web application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7360920" y="5394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capture, prediction and analytics.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Frameworks Powering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4584" y="169164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5520" y="1947672"/>
            <a:ext cx="822960" cy="8229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6" name="Image 0" descr="/home/claude/har_ppt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800" y="2136953"/>
            <a:ext cx="444398" cy="4443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6024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4312" y="32278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04008" y="169164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4944" y="1947672"/>
            <a:ext cx="822960" cy="8229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1" name="Image 1" descr="/home/claude/har_ppt/icons/open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224" y="2136953"/>
            <a:ext cx="444398" cy="4443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5448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13736" y="32278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 &amp; frame processing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53432" y="169164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84368" y="1947672"/>
            <a:ext cx="822960" cy="8229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6" name="Image 2" descr="/home/claude/har_ppt/icons/mediapi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648" y="2136953"/>
            <a:ext cx="444398" cy="4443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4872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63160" y="32278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pose landmark detection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02856" y="169164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33792" y="1947672"/>
            <a:ext cx="822960" cy="8229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1" name="Image 3" descr="/home/claude/har_ppt/icons/tensor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072" y="2136953"/>
            <a:ext cx="444398" cy="4443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94296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12584" y="32278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building &amp; training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52280" y="169164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83216" y="1947672"/>
            <a:ext cx="822960" cy="8229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6" name="Image 4" descr="/home/claude/har_ppt/icons/nump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2496" y="2136953"/>
            <a:ext cx="444398" cy="4443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43720" y="28986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62008" y="322783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array operations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54584" y="406908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185520" y="4325112"/>
            <a:ext cx="822960" cy="82296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1" name="Image 5" descr="/home/claude/har_ppt/icons/panda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4800" y="4514393"/>
            <a:ext cx="444398" cy="4443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6024" y="5276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64312" y="560527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handling &amp; structuring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2804008" y="406908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434944" y="4325112"/>
            <a:ext cx="822960" cy="82296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6" name="Image 6" descr="/home/claude/har_ppt/icons/sklea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224" y="4514393"/>
            <a:ext cx="444398" cy="44439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95448" y="5276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2913736" y="560527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train/test splitting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5053432" y="406908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684368" y="4325112"/>
            <a:ext cx="822960" cy="82296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1" name="Image 7" descr="/home/claude/har_ppt/icons/matplotli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3648" y="4514393"/>
            <a:ext cx="444398" cy="44439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44872" y="5276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163160" y="560527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 visualization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7302856" y="406908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933792" y="4325112"/>
            <a:ext cx="822960" cy="82296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6" name="Image 8" descr="/home/claude/har_ppt/icons/seabo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3072" y="4514393"/>
            <a:ext cx="444398" cy="44439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394296" y="5276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7412584" y="560527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heatmaps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9552280" y="406908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10183216" y="4325112"/>
            <a:ext cx="822960" cy="82296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51" name="Image 9" descr="/home/claude/har_ppt/icons/streamli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2496" y="4514393"/>
            <a:ext cx="444398" cy="44439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643720" y="527608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9662008" y="560527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950" dirty="0"/>
          </a:p>
        </p:txBody>
      </p:sp>
      <p:sp>
        <p:nvSpPr>
          <p:cNvPr id="54" name="Text 4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0344" y="17830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9024" y="198424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6" name="Image 0" descr="/home/claude/har_ppt/icons/webcam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3865" y="2129089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1784" y="2743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Webcam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0072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 uploaded input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43504" y="2500884"/>
            <a:ext cx="201168" cy="256032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10" name="Shape 7"/>
          <p:cNvSpPr/>
          <p:nvPr/>
        </p:nvSpPr>
        <p:spPr>
          <a:xfrm>
            <a:off x="3572104" y="17830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0784" y="198424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2" name="Image 1" descr="/home/claude/har_ppt/icons/opencv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25" y="2129089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3544" y="2743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81832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 &amp; preprocessing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95264" y="2500884"/>
            <a:ext cx="201168" cy="256032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16" name="Shape 12"/>
          <p:cNvSpPr/>
          <p:nvPr/>
        </p:nvSpPr>
        <p:spPr>
          <a:xfrm>
            <a:off x="6223864" y="17830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92544" y="198424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8" name="Image 2" descr="/home/claude/har_ppt/icons/mediapip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385" y="2129089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15304" y="2743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33592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landmark model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647024" y="2500884"/>
            <a:ext cx="201168" cy="256032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22" name="Shape 17"/>
          <p:cNvSpPr/>
          <p:nvPr/>
        </p:nvSpPr>
        <p:spPr>
          <a:xfrm>
            <a:off x="8875624" y="178308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44304" y="198424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4" name="Image 3" descr="/home/claude/har_ppt/icons/landmark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9145" y="2129089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67064" y="2743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Landmarks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985352" y="30632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body keypoints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0859872" y="3547872"/>
            <a:ext cx="365760" cy="566928"/>
          </a:xfrm>
          <a:prstGeom prst="downArrow">
            <a:avLst/>
          </a:prstGeom>
          <a:solidFill>
            <a:srgbClr val="2F80ED"/>
          </a:solidFill>
          <a:ln/>
        </p:spPr>
      </p:sp>
      <p:sp>
        <p:nvSpPr>
          <p:cNvPr id="28" name="Shape 22"/>
          <p:cNvSpPr/>
          <p:nvPr/>
        </p:nvSpPr>
        <p:spPr>
          <a:xfrm>
            <a:off x="920344" y="42519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789024" y="445312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0" name="Image 4" descr="/home/claude/har_ppt/icons/sequence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3865" y="4597969"/>
            <a:ext cx="368686" cy="36868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11784" y="52120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30-Frame Sequence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030072" y="55321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window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343504" y="4969764"/>
            <a:ext cx="201168" cy="256032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34" name="Shape 27"/>
          <p:cNvSpPr/>
          <p:nvPr/>
        </p:nvSpPr>
        <p:spPr>
          <a:xfrm>
            <a:off x="3572104" y="42519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440784" y="445312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6" name="Image 5" descr="/home/claude/har_ppt/icons/lstm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625" y="4597969"/>
            <a:ext cx="368686" cy="36868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663544" y="52120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LSTM Model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3681832" y="55321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learning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995264" y="4969764"/>
            <a:ext cx="201168" cy="256032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40" name="Shape 32"/>
          <p:cNvSpPr/>
          <p:nvPr/>
        </p:nvSpPr>
        <p:spPr>
          <a:xfrm>
            <a:off x="6223864" y="42519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092544" y="445312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2" name="Image 6" descr="/home/claude/har_ppt/icons/prediction-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7385" y="4597969"/>
            <a:ext cx="368686" cy="36868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15304" y="52120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Prediction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6333592" y="55321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classification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8647024" y="4969764"/>
            <a:ext cx="201168" cy="256032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46" name="Shape 37"/>
          <p:cNvSpPr/>
          <p:nvPr/>
        </p:nvSpPr>
        <p:spPr>
          <a:xfrm>
            <a:off x="8875624" y="4251960"/>
            <a:ext cx="239572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744304" y="4453128"/>
            <a:ext cx="658368" cy="658368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8" name="Image 7" descr="/home/claude/har_ppt/icons/dashboard-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9145" y="4597969"/>
            <a:ext cx="368686" cy="36868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967064" y="521208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8985352" y="55321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display</a:t>
            </a:r>
            <a:endParaRPr lang="en-US" sz="900" dirty="0"/>
          </a:p>
        </p:txBody>
      </p:sp>
      <p:sp>
        <p:nvSpPr>
          <p:cNvPr id="51" name="Text 4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Data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008" y="16459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2600" y="1810512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6" name="Text 4"/>
          <p:cNvSpPr/>
          <p:nvPr/>
        </p:nvSpPr>
        <p:spPr>
          <a:xfrm>
            <a:off x="6826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06928" y="1810512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8" name="Image 0" descr="/home/claude/har_ppt/icons/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0372" y="193395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260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2600" y="2560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frames from video stream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12768" y="16459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7360" y="1810512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13" name="Text 10"/>
          <p:cNvSpPr/>
          <p:nvPr/>
        </p:nvSpPr>
        <p:spPr>
          <a:xfrm>
            <a:off x="447736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01688" y="1810512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5" name="Image 1" descr="/home/claude/har_ppt/icons/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132" y="193395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7736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Conversion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77360" y="2560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to RGB color transform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07528" y="16459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72120" y="1810512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20" name="Text 16"/>
          <p:cNvSpPr/>
          <p:nvPr/>
        </p:nvSpPr>
        <p:spPr>
          <a:xfrm>
            <a:off x="827212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10896448" y="1810512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2" name="Image 2" descr="/home/claude/har_ppt/icons/pose_sm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892" y="193395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212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Detection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272120" y="2560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locates body pose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18008" y="3264408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2600" y="3429000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27" name="Text 22"/>
          <p:cNvSpPr/>
          <p:nvPr/>
        </p:nvSpPr>
        <p:spPr>
          <a:xfrm>
            <a:off x="6826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06928" y="3429000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9" name="Image 3" descr="/home/claude/har_ppt/icons/land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72" y="355244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26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Extraction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82600" y="4178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keypoints (x, y, z, visibility)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312768" y="3264408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477360" y="3429000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34" name="Text 28"/>
          <p:cNvSpPr/>
          <p:nvPr/>
        </p:nvSpPr>
        <p:spPr>
          <a:xfrm>
            <a:off x="44773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101688" y="3429000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6" name="Image 4" descr="/home/claude/har_ppt/icons/seque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132" y="3552444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7736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Generation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4477360" y="4178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into 30-frame windows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8107528" y="3264408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72120" y="3429000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41" name="Text 34"/>
          <p:cNvSpPr/>
          <p:nvPr/>
        </p:nvSpPr>
        <p:spPr>
          <a:xfrm>
            <a:off x="82721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10896448" y="3429000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3" name="Image 5" descr="/home/claude/har_ppt/icons/normaliz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892" y="3552444"/>
            <a:ext cx="301752" cy="30175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7212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272120" y="4178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landmark coordinates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18008" y="4882896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82600" y="5047488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48" name="Text 40"/>
          <p:cNvSpPr/>
          <p:nvPr/>
        </p:nvSpPr>
        <p:spPr>
          <a:xfrm>
            <a:off x="68260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3306928" y="5047488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50" name="Image 6" descr="/home/claude/har_ppt/icons/lst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372" y="5170932"/>
            <a:ext cx="301752" cy="30175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82600" y="5504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Prediction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682600" y="57972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LSTM reads sequence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4312768" y="4882896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4477360" y="5047488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55" name="Text 46"/>
          <p:cNvSpPr/>
          <p:nvPr/>
        </p:nvSpPr>
        <p:spPr>
          <a:xfrm>
            <a:off x="447736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7101688" y="5047488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57" name="Image 7" descr="/home/claude/har_ppt/icons/softmax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5132" y="5170932"/>
            <a:ext cx="301752" cy="30175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4477360" y="5504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Classification</a:t>
            </a:r>
            <a:endParaRPr lang="en-US" sz="1250" dirty="0"/>
          </a:p>
        </p:txBody>
      </p:sp>
      <p:sp>
        <p:nvSpPr>
          <p:cNvPr id="59" name="Text 49"/>
          <p:cNvSpPr/>
          <p:nvPr/>
        </p:nvSpPr>
        <p:spPr>
          <a:xfrm>
            <a:off x="4477360" y="57972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per activity class</a:t>
            </a:r>
            <a:endParaRPr lang="en-US" sz="950" dirty="0"/>
          </a:p>
        </p:txBody>
      </p:sp>
      <p:sp>
        <p:nvSpPr>
          <p:cNvPr id="60" name="Shape 50"/>
          <p:cNvSpPr/>
          <p:nvPr/>
        </p:nvSpPr>
        <p:spPr>
          <a:xfrm>
            <a:off x="8107528" y="4882896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8272120" y="5047488"/>
            <a:ext cx="365760" cy="36576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62" name="Text 52"/>
          <p:cNvSpPr/>
          <p:nvPr/>
        </p:nvSpPr>
        <p:spPr>
          <a:xfrm>
            <a:off x="827212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63" name="Shape 53"/>
          <p:cNvSpPr/>
          <p:nvPr/>
        </p:nvSpPr>
        <p:spPr>
          <a:xfrm>
            <a:off x="10896448" y="5047488"/>
            <a:ext cx="548640" cy="5486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64" name="Image 8" descr="/home/claude/har_ppt/icons/li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9892" y="5170932"/>
            <a:ext cx="301752" cy="301752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8272120" y="5504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250" dirty="0"/>
          </a:p>
        </p:txBody>
      </p:sp>
      <p:sp>
        <p:nvSpPr>
          <p:cNvPr id="66" name="Text 55"/>
          <p:cNvSpPr/>
          <p:nvPr/>
        </p:nvSpPr>
        <p:spPr>
          <a:xfrm>
            <a:off x="8272120" y="57972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streamed to dashboard</a:t>
            </a:r>
            <a:endParaRPr lang="en-US" sz="950" dirty="0"/>
          </a:p>
        </p:txBody>
      </p:sp>
      <p:sp>
        <p:nvSpPr>
          <p:cNvPr id="67" name="Text 5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743200" cy="1965960"/>
          </a:xfrm>
          <a:prstGeom prst="roundRect">
            <a:avLst>
              <a:gd name="adj" fmla="val 6512"/>
            </a:avLst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476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50" dirty="0"/>
          </a:p>
        </p:txBody>
      </p:sp>
      <p:pic>
        <p:nvPicPr>
          <p:cNvPr id="7" name="Image 0" descr="/home/claude/har_ppt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3090672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858768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279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00200" y="3858768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60020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4279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0" y="3858768"/>
            <a:ext cx="822960" cy="777240"/>
          </a:xfrm>
          <a:prstGeom prst="roundRect">
            <a:avLst>
              <a:gd name="adj" fmla="val 14118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60320" y="3931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560320" y="4279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703320" y="164592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" descr=""/>
          <p:cNvGraphicFramePr/>
          <p:nvPr/>
        </p:nvGraphicFramePr>
        <p:xfrm>
          <a:off x="8092440" y="1645920"/>
          <a:ext cx="34747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/>
          <p:nvPr/>
        </p:nvSpPr>
        <p:spPr>
          <a:xfrm>
            <a:off x="37033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703320" y="448056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1" name="Image 1" descr="/home/claude/har_ppt/icons/confusion-matri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617720"/>
            <a:ext cx="3154680" cy="1645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924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092440" y="44805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4" name="Image 2" descr="/home/claude/har_ppt/icons/train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88" y="4590288"/>
            <a:ext cx="3163824" cy="17007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Recognized Activities &amp; Project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ACTIVITIES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00684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6" name="Image 0" descr="/home/claude/har_ppt/icons/wal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994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36292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9" name="Image 1" descr="/home/claude/har_ppt/icons/ru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602" y="216027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75688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71900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2" name="Image 2" descr="/home/claude/har_ppt/icons/s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10" y="216027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11296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207508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5" name="Image 3" descr="/home/claude/har_ppt/icons/sta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818" y="2160270"/>
            <a:ext cx="388620" cy="3886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46904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643116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8" name="Image 4" descr="/home/claude/har_ppt/icons/jum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426" y="2160270"/>
            <a:ext cx="388620" cy="3886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82512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8078724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1" name="Image 5" descr="/home/claude/har_ppt/icons/wav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034" y="2160270"/>
            <a:ext cx="388620" cy="3886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818120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Waving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9514332" y="1965960"/>
            <a:ext cx="777240" cy="77724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4" name="Image 6" descr="/home/claude/har_ppt/icons/cla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8642" y="2160270"/>
            <a:ext cx="388620" cy="3886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53728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Clapping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10949940" y="1965960"/>
            <a:ext cx="777240" cy="77724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7" name="Image 7" descr="/home/claude/har_ppt/icons/fall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44250" y="2160270"/>
            <a:ext cx="388620" cy="3886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0689336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640080" y="3337560"/>
            <a:ext cx="10908792" cy="0"/>
          </a:xfrm>
          <a:prstGeom prst="line">
            <a:avLst/>
          </a:prstGeom>
          <a:noFill/>
          <a:ln w="12700">
            <a:solidFill>
              <a:srgbClr val="DCE6F5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FEATURES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632308" y="38862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833476" y="4206240"/>
            <a:ext cx="594360" cy="5943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3" name="Image 8" descr="/home/claude/har_ppt/icons/webcam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207" y="4339971"/>
            <a:ext cx="326898" cy="32689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564996" y="4032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Prediction</a:t>
            </a:r>
            <a:endParaRPr lang="en-US" sz="1150" dirty="0"/>
          </a:p>
        </p:txBody>
      </p:sp>
      <p:sp>
        <p:nvSpPr>
          <p:cNvPr id="35" name="Text 24"/>
          <p:cNvSpPr/>
          <p:nvPr/>
        </p:nvSpPr>
        <p:spPr>
          <a:xfrm>
            <a:off x="1564996" y="4389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activity recognition from live camera feed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4335628" y="38862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4536796" y="4206240"/>
            <a:ext cx="594360" cy="5943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8" name="Image 9" descr="/home/claude/har_ppt/icons/film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0527" y="4339971"/>
            <a:ext cx="326898" cy="32689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268316" y="4032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Prediction</a:t>
            </a:r>
            <a:endParaRPr lang="en-US" sz="1150" dirty="0"/>
          </a:p>
        </p:txBody>
      </p:sp>
      <p:sp>
        <p:nvSpPr>
          <p:cNvPr id="40" name="Text 28"/>
          <p:cNvSpPr/>
          <p:nvPr/>
        </p:nvSpPr>
        <p:spPr>
          <a:xfrm>
            <a:off x="5268316" y="4389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analyze pre-recorded video files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8038948" y="38862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8240116" y="4206240"/>
            <a:ext cx="594360" cy="5943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3" name="Image 10" descr="/home/claude/har_ppt/icons/dash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3847" y="4339971"/>
            <a:ext cx="326898" cy="32689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971636" y="4032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50" dirty="0"/>
          </a:p>
        </p:txBody>
      </p:sp>
      <p:sp>
        <p:nvSpPr>
          <p:cNvPr id="45" name="Text 32"/>
          <p:cNvSpPr/>
          <p:nvPr/>
        </p:nvSpPr>
        <p:spPr>
          <a:xfrm>
            <a:off x="8971636" y="43891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Streamlit interface for all functions</a:t>
            </a:r>
            <a:endParaRPr lang="en-US" sz="900" dirty="0"/>
          </a:p>
        </p:txBody>
      </p:sp>
      <p:sp>
        <p:nvSpPr>
          <p:cNvPr id="46" name="Shape 33"/>
          <p:cNvSpPr/>
          <p:nvPr/>
        </p:nvSpPr>
        <p:spPr>
          <a:xfrm>
            <a:off x="632308" y="5257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833476" y="5577840"/>
            <a:ext cx="594360" cy="5943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8" name="Image 11" descr="/home/claude/har_ppt/icons/gauge_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207" y="5711571"/>
            <a:ext cx="326898" cy="326898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564996" y="5404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50" dirty="0"/>
          </a:p>
        </p:txBody>
      </p:sp>
      <p:sp>
        <p:nvSpPr>
          <p:cNvPr id="50" name="Text 36"/>
          <p:cNvSpPr/>
          <p:nvPr/>
        </p:nvSpPr>
        <p:spPr>
          <a:xfrm>
            <a:off x="1564996" y="5760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prediction probability per activity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4335628" y="5257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2" name="Shape 38"/>
          <p:cNvSpPr/>
          <p:nvPr/>
        </p:nvSpPr>
        <p:spPr>
          <a:xfrm>
            <a:off x="4536796" y="5577840"/>
            <a:ext cx="594360" cy="5943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53" name="Image 12" descr="/home/claude/har_ppt/icons/analytics_blu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0527" y="5711571"/>
            <a:ext cx="326898" cy="32689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5268316" y="5404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View</a:t>
            </a:r>
            <a:endParaRPr lang="en-US" sz="1150" dirty="0"/>
          </a:p>
        </p:txBody>
      </p:sp>
      <p:sp>
        <p:nvSpPr>
          <p:cNvPr id="55" name="Text 40"/>
          <p:cNvSpPr/>
          <p:nvPr/>
        </p:nvSpPr>
        <p:spPr>
          <a:xfrm>
            <a:off x="5268316" y="5760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activity insights and summaries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8038948" y="5257800"/>
            <a:ext cx="3520440" cy="1234440"/>
          </a:xfrm>
          <a:prstGeom prst="roundRect">
            <a:avLst>
              <a:gd name="adj" fmla="val 8889"/>
            </a:avLst>
          </a:prstGeom>
          <a:solidFill>
            <a:srgbClr val="F4F8F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7" name="Shape 42"/>
          <p:cNvSpPr/>
          <p:nvPr/>
        </p:nvSpPr>
        <p:spPr>
          <a:xfrm>
            <a:off x="8240116" y="5577840"/>
            <a:ext cx="594360" cy="594360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58" name="Image 13" descr="/home/claude/har_ppt/icons/curve_blu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3847" y="5711571"/>
            <a:ext cx="326898" cy="326898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8971636" y="5404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1150" dirty="0"/>
          </a:p>
        </p:txBody>
      </p:sp>
      <p:sp>
        <p:nvSpPr>
          <p:cNvPr id="60" name="Text 44"/>
          <p:cNvSpPr/>
          <p:nvPr/>
        </p:nvSpPr>
        <p:spPr>
          <a:xfrm>
            <a:off x="8971636" y="5760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model accuracy and loss over epochs</a:t>
            </a:r>
            <a:endParaRPr lang="en-US" sz="900" dirty="0"/>
          </a:p>
        </p:txBody>
      </p:sp>
      <p:sp>
        <p:nvSpPr>
          <p:cNvPr id="61" name="Text 45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713232" cy="713232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6" name="Image 0" descr="/home/claude/har_ppt/icons/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2045696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19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Video Length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8308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range from a few seconds to several minutes.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40680" y="2084832"/>
            <a:ext cx="411480" cy="292608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10" name="Shape 7"/>
          <p:cNvSpPr/>
          <p:nvPr/>
        </p:nvSpPr>
        <p:spPr>
          <a:xfrm>
            <a:off x="6035040" y="180136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F4F8FD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63640" y="21122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padded or truncated into fixed 30-frame sequences before inference.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880360"/>
            <a:ext cx="1090879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" y="3063240"/>
            <a:ext cx="713232" cy="713232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5" name="Image 1" descr="/home/claude/har_ppt/icons/eyesl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56" y="3234416"/>
            <a:ext cx="370881" cy="37088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83080" y="30083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Pose Detection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783080" y="3337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or poor lighting can drop landmark tracking.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40680" y="3273552"/>
            <a:ext cx="411480" cy="292608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19" name="Shape 15"/>
          <p:cNvSpPr/>
          <p:nvPr/>
        </p:nvSpPr>
        <p:spPr>
          <a:xfrm>
            <a:off x="6035040" y="299008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F4F8FD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3063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63640" y="33009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and frame interpolation handle missing keypoints gracefully.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0080" y="4069080"/>
            <a:ext cx="1090879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4251960"/>
            <a:ext cx="713232" cy="713232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4" name="Image 2" descr="/home/claude/har_ppt/icons/clo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4423136"/>
            <a:ext cx="370881" cy="37088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83080" y="41970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Similar-Looking Activities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783080" y="4526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like standing and waving share overlapping poses.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40680" y="4462272"/>
            <a:ext cx="411480" cy="292608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28" name="Shape 23"/>
          <p:cNvSpPr/>
          <p:nvPr/>
        </p:nvSpPr>
        <p:spPr>
          <a:xfrm>
            <a:off x="6035040" y="417880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F4F8FD"/>
          </a:solidFill>
          <a:ln/>
        </p:spPr>
      </p:sp>
      <p:sp>
        <p:nvSpPr>
          <p:cNvPr id="29" name="Text 24"/>
          <p:cNvSpPr/>
          <p:nvPr/>
        </p:nvSpPr>
        <p:spPr>
          <a:xfrm>
            <a:off x="626364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263640" y="44897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stacked LSTM captures temporal motion patterns, not just single poses.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40080" y="5257800"/>
            <a:ext cx="10908792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68680" y="5440680"/>
            <a:ext cx="713232" cy="713232"/>
          </a:xfrm>
          <a:prstGeom prst="ellipse">
            <a:avLst/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3" name="Image 3" descr="/home/claude/har_ppt/icons/wif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56" y="5611856"/>
            <a:ext cx="370881" cy="37088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783080" y="53858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Latency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783080" y="5715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 can lag behind real-time video feed.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440680" y="5650992"/>
            <a:ext cx="411480" cy="292608"/>
          </a:xfrm>
          <a:prstGeom prst="rightArrow">
            <a:avLst/>
          </a:prstGeom>
          <a:solidFill>
            <a:srgbClr val="2F80ED"/>
          </a:solidFill>
          <a:ln/>
        </p:spPr>
      </p:sp>
      <p:sp>
        <p:nvSpPr>
          <p:cNvPr id="37" name="Shape 31"/>
          <p:cNvSpPr/>
          <p:nvPr/>
        </p:nvSpPr>
        <p:spPr>
          <a:xfrm>
            <a:off x="6035040" y="536752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F4F8FD"/>
          </a:solidFill>
          <a:ln/>
        </p:spPr>
      </p:sp>
      <p:sp>
        <p:nvSpPr>
          <p:cNvPr id="38" name="Text 32"/>
          <p:cNvSpPr/>
          <p:nvPr/>
        </p:nvSpPr>
        <p:spPr>
          <a:xfrm>
            <a:off x="6263640" y="5440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263640" y="567842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preprocessing and a lightweight model architecture enable real-time speed.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0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6" name="Image 0" descr="/home/claude/har_ppt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210312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0" name="Image 1" descr="/home/claude/har_ppt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7288" y="26974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447288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Speed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4" name="Image 2" descr="/home/claude/har_ppt/icons/feath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319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4343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41248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46120" y="374904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B3B6F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18" name="Image 3" descr="/home/claude/har_ppt/icons/li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9319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47288" y="4343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3447288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989320" y="16916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989320" y="2103120"/>
            <a:ext cx="475488" cy="47548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3" name="Image 4" descr="/home/claude/har_ppt/icons/users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305" y="2210105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47688" y="20574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Person Detection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647688" y="23317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activities for more than one individual at once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5989320" y="2761488"/>
            <a:ext cx="475488" cy="47548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7" name="Image 5" descr="/home/claude/har_ppt/icons/mobil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305" y="2868473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47688" y="27157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647688" y="29900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system to Android / iOS platforms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5989320" y="3419856"/>
            <a:ext cx="475488" cy="47548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1" name="Image 6" descr="/home/claude/har_ppt/icons/cctv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305" y="3526841"/>
            <a:ext cx="261518" cy="26151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47688" y="337413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Integration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6647688" y="364845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existing surveillance camera networks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5989320" y="4078224"/>
            <a:ext cx="475488" cy="47548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5" name="Image 7" descr="/home/claude/har_ppt/icons/bell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305" y="4185209"/>
            <a:ext cx="261518" cy="26151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647688" y="40325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Alert System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6647688" y="430682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for emergency response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5989320" y="4736592"/>
            <a:ext cx="475488" cy="47548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39" name="Image 8" descr="/home/claude/har_ppt/icons/health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305" y="4843577"/>
            <a:ext cx="261518" cy="26151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647688" y="46908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Monitoring</a:t>
            </a:r>
            <a:endParaRPr lang="en-US" sz="1150" dirty="0"/>
          </a:p>
        </p:txBody>
      </p:sp>
      <p:sp>
        <p:nvSpPr>
          <p:cNvPr id="41" name="Text 30"/>
          <p:cNvSpPr/>
          <p:nvPr/>
        </p:nvSpPr>
        <p:spPr>
          <a:xfrm>
            <a:off x="6647688" y="49651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patient movement and elderly care activity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5989320" y="5394960"/>
            <a:ext cx="475488" cy="475488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43" name="Image 9" descr="/home/claude/har_ppt/icons/shield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305" y="5501945"/>
            <a:ext cx="261518" cy="26151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647688" y="53492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Surveillance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6647688" y="56235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and suspicious-behavior detection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7465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Documentation — Google AI Edge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2037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Documentation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6609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Documentation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1181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90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Documentation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0325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 Documentation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9704"/>
            <a:ext cx="82296" cy="82296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 &amp; Schmidhuber (1997) — Long Short-Term Memory, Neural Computation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822960"/>
            <a:ext cx="0" cy="5394960"/>
          </a:xfrm>
          <a:prstGeom prst="line">
            <a:avLst/>
          </a:prstGeom>
          <a:noFill/>
          <a:ln w="12700">
            <a:solidFill>
              <a:srgbClr val="2C4A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188720"/>
            <a:ext cx="868680" cy="868680"/>
          </a:xfrm>
          <a:prstGeom prst="ellipse">
            <a:avLst/>
          </a:prstGeom>
          <a:solidFill>
            <a:srgbClr val="2F80ED"/>
          </a:solidFill>
          <a:ln/>
          <a:effectLst>
            <a:outerShdw sx="100000" sy="100000" kx="0" ky="0" algn="bl" rotWithShape="0" blurRad="101600" dist="38100" dir="5400000">
              <a:srgbClr val="1B3B6F">
                <a:alpha val="18000"/>
              </a:srgbClr>
            </a:outerShdw>
          </a:effectLst>
        </p:spPr>
      </p:sp>
      <p:pic>
        <p:nvPicPr>
          <p:cNvPr id="22" name="Image 0" descr="/home/claude/har_ppt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610" y="1405890"/>
            <a:ext cx="434340" cy="4343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67512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67512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E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60920" y="3703320"/>
            <a:ext cx="3474720" cy="0"/>
          </a:xfrm>
          <a:prstGeom prst="line">
            <a:avLst/>
          </a:prstGeom>
          <a:noFill/>
          <a:ln w="12700">
            <a:solidFill>
              <a:srgbClr val="2C4A7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Akkisetti Ganesh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67512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12524619  •  MCA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818120" y="489204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22406B"/>
          </a:solidFill>
          <a:ln w="12700">
            <a:solidFill>
              <a:srgbClr val="35548A"/>
            </a:solidFill>
            <a:prstDash val="solid"/>
          </a:ln>
        </p:spPr>
      </p:sp>
      <p:pic>
        <p:nvPicPr>
          <p:cNvPr id="29" name="Image 1" descr="/home/claude/har_ppt/icons/streamli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4992624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321040" y="4892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Recognition System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2026-07-22T01:02:52Z</dcterms:created>
  <dcterms:modified xsi:type="dcterms:W3CDTF">2026-07-22T01:02:52Z</dcterms:modified>
</cp:coreProperties>
</file>