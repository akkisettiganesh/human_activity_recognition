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1188720"/>
            <a:ext cx="548640" cy="365760"/>
          </a:xfrm>
          <a:prstGeom prst="line">
            <a:avLst/>
          </a:prstGeom>
          <a:noFill/>
          <a:ln w="15875">
            <a:solidFill>
              <a:srgbClr val="38BDF8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H="1">
            <a:off x="9052560" y="1188720"/>
            <a:ext cx="365760" cy="731520"/>
          </a:xfrm>
          <a:prstGeom prst="line">
            <a:avLst/>
          </a:prstGeom>
          <a:noFill/>
          <a:ln w="15875">
            <a:solidFill>
              <a:srgbClr val="38BDF8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H="1">
            <a:off x="9692640" y="1554480"/>
            <a:ext cx="274320" cy="822960"/>
          </a:xfrm>
          <a:prstGeom prst="line">
            <a:avLst/>
          </a:prstGeom>
          <a:noFill/>
          <a:ln w="15875">
            <a:solidFill>
              <a:srgbClr val="38BDF8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66960" y="1554480"/>
            <a:ext cx="457200" cy="640080"/>
          </a:xfrm>
          <a:prstGeom prst="line">
            <a:avLst/>
          </a:prstGeom>
          <a:noFill/>
          <a:ln w="15875">
            <a:solidFill>
              <a:srgbClr val="38BDF8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052560" y="1920240"/>
            <a:ext cx="457200" cy="1097280"/>
          </a:xfrm>
          <a:prstGeom prst="line">
            <a:avLst/>
          </a:prstGeom>
          <a:noFill/>
          <a:ln w="15875">
            <a:solidFill>
              <a:srgbClr val="38BDF8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9509760" y="2377440"/>
            <a:ext cx="182880" cy="640080"/>
          </a:xfrm>
          <a:prstGeom prst="line">
            <a:avLst/>
          </a:prstGeom>
          <a:noFill/>
          <a:ln w="15875">
            <a:solidFill>
              <a:srgbClr val="38BDF8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>
            <a:off x="10149840" y="2194560"/>
            <a:ext cx="274320" cy="1097280"/>
          </a:xfrm>
          <a:prstGeom prst="line">
            <a:avLst/>
          </a:prstGeom>
          <a:noFill/>
          <a:ln w="15875">
            <a:solidFill>
              <a:srgbClr val="38BDF8">
                <a:alpha val="6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>
            <a:off x="8961120" y="3017520"/>
            <a:ext cx="548640" cy="548640"/>
          </a:xfrm>
          <a:prstGeom prst="line">
            <a:avLst/>
          </a:prstGeom>
          <a:noFill/>
          <a:ln w="15875">
            <a:solidFill>
              <a:srgbClr val="38BDF8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09760" y="3017520"/>
            <a:ext cx="274320" cy="1005840"/>
          </a:xfrm>
          <a:prstGeom prst="line">
            <a:avLst/>
          </a:prstGeom>
          <a:noFill/>
          <a:ln w="15875">
            <a:solidFill>
              <a:srgbClr val="38BDF8">
                <a:alpha val="6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784080" y="4023360"/>
            <a:ext cx="731520" cy="365760"/>
          </a:xfrm>
          <a:prstGeom prst="line">
            <a:avLst/>
          </a:prstGeom>
          <a:noFill/>
          <a:ln w="15875">
            <a:solidFill>
              <a:srgbClr val="38BDF8">
                <a:alpha val="6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H="1">
            <a:off x="9326880" y="4023360"/>
            <a:ext cx="457200" cy="640080"/>
          </a:xfrm>
          <a:prstGeom prst="line">
            <a:avLst/>
          </a:prstGeom>
          <a:noFill/>
          <a:ln w="15875">
            <a:solidFill>
              <a:srgbClr val="38BDF8">
                <a:alpha val="6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326880" y="4663440"/>
            <a:ext cx="640080" cy="457200"/>
          </a:xfrm>
          <a:prstGeom prst="line">
            <a:avLst/>
          </a:prstGeom>
          <a:noFill/>
          <a:ln w="15875">
            <a:solidFill>
              <a:srgbClr val="38BDF8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363456" y="1133856"/>
            <a:ext cx="109728" cy="10972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5" name="Shape 13"/>
          <p:cNvSpPr/>
          <p:nvPr/>
        </p:nvSpPr>
        <p:spPr>
          <a:xfrm>
            <a:off x="9912096" y="1499616"/>
            <a:ext cx="109728" cy="10972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997696" y="1865376"/>
            <a:ext cx="109728" cy="10972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7" name="Shape 15"/>
          <p:cNvSpPr/>
          <p:nvPr/>
        </p:nvSpPr>
        <p:spPr>
          <a:xfrm>
            <a:off x="9637776" y="2322576"/>
            <a:ext cx="109728" cy="10972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8" name="Shape 16"/>
          <p:cNvSpPr/>
          <p:nvPr/>
        </p:nvSpPr>
        <p:spPr>
          <a:xfrm>
            <a:off x="10369296" y="2139696"/>
            <a:ext cx="109728" cy="10972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9" name="Shape 17"/>
          <p:cNvSpPr/>
          <p:nvPr/>
        </p:nvSpPr>
        <p:spPr>
          <a:xfrm>
            <a:off x="9454896" y="2962656"/>
            <a:ext cx="109728" cy="10972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0" name="Shape 18"/>
          <p:cNvSpPr/>
          <p:nvPr/>
        </p:nvSpPr>
        <p:spPr>
          <a:xfrm>
            <a:off x="10094976" y="3236976"/>
            <a:ext cx="109728" cy="10972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906256" y="3511296"/>
            <a:ext cx="109728" cy="10972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2" name="Shape 20"/>
          <p:cNvSpPr/>
          <p:nvPr/>
        </p:nvSpPr>
        <p:spPr>
          <a:xfrm>
            <a:off x="9729216" y="3968496"/>
            <a:ext cx="109728" cy="10972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0460736" y="4334256"/>
            <a:ext cx="109728" cy="10972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4" name="Shape 22"/>
          <p:cNvSpPr/>
          <p:nvPr/>
        </p:nvSpPr>
        <p:spPr>
          <a:xfrm>
            <a:off x="9272016" y="4608576"/>
            <a:ext cx="109728" cy="10972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5" name="Shape 23"/>
          <p:cNvSpPr/>
          <p:nvPr/>
        </p:nvSpPr>
        <p:spPr>
          <a:xfrm>
            <a:off x="9912096" y="5065776"/>
            <a:ext cx="109728" cy="10972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18745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 •  DEEP LEARNING  •  HCI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23317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Activity Recognition</a:t>
            </a:r>
            <a:endParaRPr lang="en-US" sz="4400" dirty="0"/>
          </a:p>
        </p:txBody>
      </p:sp>
      <p:sp>
        <p:nvSpPr>
          <p:cNvPr id="28" name="Text 26"/>
          <p:cNvSpPr/>
          <p:nvPr/>
        </p:nvSpPr>
        <p:spPr>
          <a:xfrm>
            <a:off x="548640" y="31546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(HAR) System</a:t>
            </a:r>
            <a:endParaRPr lang="en-US" sz="4400" dirty="0"/>
          </a:p>
        </p:txBody>
      </p:sp>
      <p:sp>
        <p:nvSpPr>
          <p:cNvPr id="29" name="Text 27"/>
          <p:cNvSpPr/>
          <p:nvPr/>
        </p:nvSpPr>
        <p:spPr>
          <a:xfrm>
            <a:off x="548640" y="402336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D7E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Computer Vision for Real-Time Motion and Pose Tracking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548640" y="5394960"/>
            <a:ext cx="4206240" cy="0"/>
          </a:xfrm>
          <a:prstGeom prst="line">
            <a:avLst/>
          </a:prstGeom>
          <a:noFill/>
          <a:ln w="12700">
            <a:solidFill>
              <a:srgbClr val="25324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562356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Akkisetti Ganesh</a:t>
            </a:r>
            <a:pPr indent="0" marL="0">
              <a:buNone/>
            </a:pPr>
            <a:r>
              <a:rPr lang="en-US" sz="1400" dirty="0">
                <a:solidFill>
                  <a:srgbClr val="8A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Registration No: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12524619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1185855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9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&amp; Problem Statement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12080" cy="1965960"/>
          </a:xfrm>
          <a:prstGeom prst="roundRect">
            <a:avLst>
              <a:gd name="adj" fmla="val 4651"/>
            </a:avLst>
          </a:prstGeom>
          <a:solidFill>
            <a:srgbClr val="141E30"/>
          </a:solidFill>
          <a:ln w="12700">
            <a:solidFill>
              <a:srgbClr val="2532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057400"/>
            <a:ext cx="566928" cy="566928"/>
          </a:xfrm>
          <a:prstGeom prst="ellipse">
            <a:avLst/>
          </a:prstGeom>
          <a:solidFill>
            <a:srgbClr val="38BDF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6711" y="2125431"/>
            <a:ext cx="430865" cy="4308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02996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HAR?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600200" y="2423160"/>
            <a:ext cx="3886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classification of human physical actions from video streams.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3931920"/>
            <a:ext cx="5212080" cy="1965960"/>
          </a:xfrm>
          <a:prstGeom prst="roundRect">
            <a:avLst>
              <a:gd name="adj" fmla="val 4651"/>
            </a:avLst>
          </a:prstGeom>
          <a:solidFill>
            <a:srgbClr val="141E30"/>
          </a:solidFill>
          <a:ln w="12700">
            <a:solidFill>
              <a:srgbClr val="25324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68680" y="4206240"/>
            <a:ext cx="566928" cy="566928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711" y="4274271"/>
            <a:ext cx="430865" cy="4308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417880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Shift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600200" y="4572000"/>
            <a:ext cx="3886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Transitioning from intrusive wearables to non-contact, vision-based tracking.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17920" y="1783080"/>
            <a:ext cx="5425135" cy="4114800"/>
          </a:xfrm>
          <a:prstGeom prst="roundRect">
            <a:avLst>
              <a:gd name="adj" fmla="val 2222"/>
            </a:avLst>
          </a:prstGeom>
          <a:solidFill>
            <a:srgbClr val="1B2740"/>
          </a:solidFill>
          <a:ln w="12700">
            <a:solidFill>
              <a:srgbClr val="25324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537960" y="2057400"/>
            <a:ext cx="502920" cy="502920"/>
          </a:xfrm>
          <a:prstGeom prst="ellipse">
            <a:avLst/>
          </a:prstGeom>
          <a:solidFill>
            <a:srgbClr val="38BDF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8310" y="2117750"/>
            <a:ext cx="382219" cy="38221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178040" y="2075688"/>
            <a:ext cx="4236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Challenges</a:t>
            </a:r>
            <a:endParaRPr lang="en-US" sz="1700" dirty="0"/>
          </a:p>
        </p:txBody>
      </p:sp>
      <p:sp>
        <p:nvSpPr>
          <p:cNvPr id="18" name="Shape 13"/>
          <p:cNvSpPr/>
          <p:nvPr/>
        </p:nvSpPr>
        <p:spPr>
          <a:xfrm>
            <a:off x="6583680" y="2898648"/>
            <a:ext cx="91440" cy="9144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9" name="Text 14"/>
          <p:cNvSpPr/>
          <p:nvPr/>
        </p:nvSpPr>
        <p:spPr>
          <a:xfrm>
            <a:off x="6812280" y="2788920"/>
            <a:ext cx="451073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D7E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Intra-class variability</a:t>
            </a:r>
            <a:endParaRPr lang="en-US" sz="1450" dirty="0"/>
          </a:p>
        </p:txBody>
      </p:sp>
      <p:sp>
        <p:nvSpPr>
          <p:cNvPr id="20" name="Shape 15"/>
          <p:cNvSpPr/>
          <p:nvPr/>
        </p:nvSpPr>
        <p:spPr>
          <a:xfrm>
            <a:off x="6583680" y="3611880"/>
            <a:ext cx="91440" cy="9144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21" name="Text 16"/>
          <p:cNvSpPr/>
          <p:nvPr/>
        </p:nvSpPr>
        <p:spPr>
          <a:xfrm>
            <a:off x="6812280" y="3502152"/>
            <a:ext cx="451073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D7E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clutter</a:t>
            </a:r>
            <a:endParaRPr lang="en-US" sz="1450" dirty="0"/>
          </a:p>
        </p:txBody>
      </p:sp>
      <p:sp>
        <p:nvSpPr>
          <p:cNvPr id="22" name="Shape 17"/>
          <p:cNvSpPr/>
          <p:nvPr/>
        </p:nvSpPr>
        <p:spPr>
          <a:xfrm>
            <a:off x="6583680" y="4325112"/>
            <a:ext cx="91440" cy="9144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23" name="Text 18"/>
          <p:cNvSpPr/>
          <p:nvPr/>
        </p:nvSpPr>
        <p:spPr>
          <a:xfrm>
            <a:off x="6812280" y="4215384"/>
            <a:ext cx="451073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D7E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lighting conditions</a:t>
            </a:r>
            <a:endParaRPr lang="en-US" sz="1450" dirty="0"/>
          </a:p>
        </p:txBody>
      </p:sp>
      <p:sp>
        <p:nvSpPr>
          <p:cNvPr id="24" name="Shape 19"/>
          <p:cNvSpPr/>
          <p:nvPr/>
        </p:nvSpPr>
        <p:spPr>
          <a:xfrm>
            <a:off x="6583680" y="5038344"/>
            <a:ext cx="91440" cy="9144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25" name="Text 20"/>
          <p:cNvSpPr/>
          <p:nvPr/>
        </p:nvSpPr>
        <p:spPr>
          <a:xfrm>
            <a:off x="6812280" y="4928616"/>
            <a:ext cx="451073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D7E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Occlusions</a:t>
            </a:r>
            <a:endParaRPr lang="en-US" sz="1450" dirty="0"/>
          </a:p>
        </p:txBody>
      </p:sp>
      <p:sp>
        <p:nvSpPr>
          <p:cNvPr id="26" name="Text 21"/>
          <p:cNvSpPr/>
          <p:nvPr/>
        </p:nvSpPr>
        <p:spPr>
          <a:xfrm>
            <a:off x="11185855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454298" cy="3931920"/>
          </a:xfrm>
          <a:prstGeom prst="roundRect">
            <a:avLst>
              <a:gd name="adj" fmla="val 3177"/>
            </a:avLst>
          </a:prstGeom>
          <a:solidFill>
            <a:srgbClr val="141E30"/>
          </a:solidFill>
          <a:ln w="12700">
            <a:solidFill>
              <a:srgbClr val="2532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64309" y="2377440"/>
            <a:ext cx="822960" cy="822960"/>
          </a:xfrm>
          <a:prstGeom prst="ellipse">
            <a:avLst/>
          </a:prstGeom>
          <a:solidFill>
            <a:srgbClr val="38BDF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3064" y="2476195"/>
            <a:ext cx="625450" cy="6254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474720"/>
            <a:ext cx="290565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Detection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4251960"/>
            <a:ext cx="281421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7E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identify daily actions — walking, sitting, standing, falling.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68698" y="1965960"/>
            <a:ext cx="3454298" cy="3931920"/>
          </a:xfrm>
          <a:prstGeom prst="roundRect">
            <a:avLst>
              <a:gd name="adj" fmla="val 3177"/>
            </a:avLst>
          </a:prstGeom>
          <a:solidFill>
            <a:srgbClr val="141E30"/>
          </a:solidFill>
          <a:ln w="12700">
            <a:solidFill>
              <a:srgbClr val="25324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684368" y="2377440"/>
            <a:ext cx="822960" cy="822960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3123" y="2476195"/>
            <a:ext cx="625450" cy="62545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43018" y="3474720"/>
            <a:ext cx="290565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Throughput &amp; Low Latency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688738" y="4251960"/>
            <a:ext cx="281421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7E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high-FPS video streams efficiently with minimal delay.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188757" y="1965960"/>
            <a:ext cx="3454298" cy="3931920"/>
          </a:xfrm>
          <a:prstGeom prst="roundRect">
            <a:avLst>
              <a:gd name="adj" fmla="val 3177"/>
            </a:avLst>
          </a:prstGeom>
          <a:solidFill>
            <a:srgbClr val="141E30"/>
          </a:solidFill>
          <a:ln w="12700">
            <a:solidFill>
              <a:srgbClr val="25324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504426" y="2377440"/>
            <a:ext cx="822960" cy="822960"/>
          </a:xfrm>
          <a:prstGeom prst="ellipse">
            <a:avLst/>
          </a:prstGeom>
          <a:solidFill>
            <a:srgbClr val="38BDF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3181" y="2476195"/>
            <a:ext cx="625450" cy="62545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63077" y="3474720"/>
            <a:ext cx="290565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Scalable Deployment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508797" y="4251960"/>
            <a:ext cx="281421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7E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 seamlessly to smart homes, hospitals, and security systems.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185855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Methodologies in Computer Vision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87188" cy="1874520"/>
          </a:xfrm>
          <a:prstGeom prst="roundRect">
            <a:avLst>
              <a:gd name="adj" fmla="val 4878"/>
            </a:avLst>
          </a:prstGeom>
          <a:solidFill>
            <a:srgbClr val="141E30"/>
          </a:solidFill>
          <a:ln w="12700">
            <a:solidFill>
              <a:srgbClr val="2532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2391156"/>
            <a:ext cx="658368" cy="658368"/>
          </a:xfrm>
          <a:prstGeom prst="ellipse">
            <a:avLst/>
          </a:prstGeom>
          <a:solidFill>
            <a:srgbClr val="38BDF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0252" y="2470160"/>
            <a:ext cx="500360" cy="500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011680"/>
            <a:ext cx="39698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2D / 3D Pose Estimation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691640" y="2441448"/>
            <a:ext cx="396986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joint keypoints using MediaPipe, OpenPose, and YOLO-Pose.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55868" y="1783080"/>
            <a:ext cx="5387188" cy="1874520"/>
          </a:xfrm>
          <a:prstGeom prst="roundRect">
            <a:avLst>
              <a:gd name="adj" fmla="val 4878"/>
            </a:avLst>
          </a:prstGeom>
          <a:solidFill>
            <a:srgbClr val="141E30"/>
          </a:solidFill>
          <a:ln w="12700">
            <a:solidFill>
              <a:srgbClr val="25324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48476" y="2391156"/>
            <a:ext cx="658368" cy="658368"/>
          </a:xfrm>
          <a:prstGeom prst="ellipse">
            <a:avLst/>
          </a:prstGeom>
          <a:solidFill>
            <a:srgbClr val="38BDF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7480" y="2470160"/>
            <a:ext cx="500360" cy="5003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98868" y="2011680"/>
            <a:ext cx="39698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2D CNNs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7398868" y="2441448"/>
            <a:ext cx="396986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visual spatial features on a frame-by-frame basis.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5387188" cy="1874520"/>
          </a:xfrm>
          <a:prstGeom prst="roundRect">
            <a:avLst>
              <a:gd name="adj" fmla="val 4878"/>
            </a:avLst>
          </a:prstGeom>
          <a:solidFill>
            <a:srgbClr val="1B2740"/>
          </a:solidFill>
          <a:ln w="12700">
            <a:solidFill>
              <a:srgbClr val="25324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41248" y="4585716"/>
            <a:ext cx="658368" cy="658368"/>
          </a:xfrm>
          <a:prstGeom prst="ellipse">
            <a:avLst/>
          </a:prstGeom>
          <a:solidFill>
            <a:srgbClr val="38BDF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252" y="4664720"/>
            <a:ext cx="500360" cy="5003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206240"/>
            <a:ext cx="39698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LSTMs / GRUs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691640" y="4636008"/>
            <a:ext cx="396986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temporal action sequence patterns over time.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55868" y="3977640"/>
            <a:ext cx="5387188" cy="1874520"/>
          </a:xfrm>
          <a:prstGeom prst="roundRect">
            <a:avLst>
              <a:gd name="adj" fmla="val 4878"/>
            </a:avLst>
          </a:prstGeom>
          <a:solidFill>
            <a:srgbClr val="1B2740"/>
          </a:solidFill>
          <a:ln w="12700">
            <a:solidFill>
              <a:srgbClr val="25324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548476" y="4585716"/>
            <a:ext cx="658368" cy="658368"/>
          </a:xfrm>
          <a:prstGeom prst="ellipse">
            <a:avLst/>
          </a:prstGeom>
          <a:solidFill>
            <a:srgbClr val="38BDF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7480" y="4664720"/>
            <a:ext cx="500360" cy="5003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98868" y="4206240"/>
            <a:ext cx="39698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3D CNNs &amp; Vision Transformers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7398868" y="4636008"/>
            <a:ext cx="396986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spatial and temporal dimensions simultaneously.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11185855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&amp; Software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87188" cy="1874520"/>
          </a:xfrm>
          <a:prstGeom prst="roundRect">
            <a:avLst>
              <a:gd name="adj" fmla="val 4878"/>
            </a:avLst>
          </a:prstGeom>
          <a:solidFill>
            <a:srgbClr val="141E30"/>
          </a:solidFill>
          <a:ln w="12700">
            <a:solidFill>
              <a:srgbClr val="2532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2391156"/>
            <a:ext cx="658368" cy="658368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0252" y="2470160"/>
            <a:ext cx="500360" cy="500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148840"/>
            <a:ext cx="39698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Programming Language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691640" y="2651760"/>
            <a:ext cx="396986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3.x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55868" y="1783080"/>
            <a:ext cx="5387188" cy="1874520"/>
          </a:xfrm>
          <a:prstGeom prst="roundRect">
            <a:avLst>
              <a:gd name="adj" fmla="val 4878"/>
            </a:avLst>
          </a:prstGeom>
          <a:solidFill>
            <a:srgbClr val="1B2740"/>
          </a:solidFill>
          <a:ln w="12700">
            <a:solidFill>
              <a:srgbClr val="25324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48476" y="2391156"/>
            <a:ext cx="658368" cy="658368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7480" y="2470160"/>
            <a:ext cx="500360" cy="5003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98868" y="2148840"/>
            <a:ext cx="39698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Computer Vision Libraries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7398868" y="2651760"/>
            <a:ext cx="396986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OpenCV, MediaPipe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5387188" cy="1874520"/>
          </a:xfrm>
          <a:prstGeom prst="roundRect">
            <a:avLst>
              <a:gd name="adj" fmla="val 4878"/>
            </a:avLst>
          </a:prstGeom>
          <a:solidFill>
            <a:srgbClr val="141E30"/>
          </a:solidFill>
          <a:ln w="12700">
            <a:solidFill>
              <a:srgbClr val="25324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41248" y="4585716"/>
            <a:ext cx="658368" cy="658368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252" y="4664720"/>
            <a:ext cx="500360" cy="5003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343400"/>
            <a:ext cx="39698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Learning Frameworks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691640" y="4846320"/>
            <a:ext cx="396986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/ TensorFlow, Keras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6255868" y="3977640"/>
            <a:ext cx="5387188" cy="1874520"/>
          </a:xfrm>
          <a:prstGeom prst="roundRect">
            <a:avLst>
              <a:gd name="adj" fmla="val 4878"/>
            </a:avLst>
          </a:prstGeom>
          <a:solidFill>
            <a:srgbClr val="1B2740"/>
          </a:solidFill>
          <a:ln w="12700">
            <a:solidFill>
              <a:srgbClr val="25324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548476" y="4585716"/>
            <a:ext cx="658368" cy="658368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7480" y="4664720"/>
            <a:ext cx="500360" cy="5003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98868" y="4343400"/>
            <a:ext cx="39698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7398868" y="4846320"/>
            <a:ext cx="396986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 Web / IP Camera + NVIDIA CUDA GPU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11185855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Challenges &amp; Solutions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A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480560" y="1783080"/>
            <a:ext cx="71624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A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3108960" cy="1325880"/>
          </a:xfrm>
          <a:prstGeom prst="roundRect">
            <a:avLst>
              <a:gd name="adj" fmla="val 6897"/>
            </a:avLst>
          </a:prstGeom>
          <a:solidFill>
            <a:srgbClr val="1B2740"/>
          </a:solidFill>
          <a:ln w="12700">
            <a:solidFill>
              <a:srgbClr val="2532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240280"/>
            <a:ext cx="26517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Occlusion &amp; Clutter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840480" y="2674620"/>
            <a:ext cx="457200" cy="457200"/>
          </a:xfrm>
          <a:prstGeom prst="ellipse">
            <a:avLst/>
          </a:prstGeom>
          <a:solidFill>
            <a:srgbClr val="0B1220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95344" y="2729484"/>
            <a:ext cx="347472" cy="34747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480560" y="2240280"/>
            <a:ext cx="7162495" cy="1325880"/>
          </a:xfrm>
          <a:prstGeom prst="roundRect">
            <a:avLst>
              <a:gd name="adj" fmla="val 6897"/>
            </a:avLst>
          </a:prstGeom>
          <a:solidFill>
            <a:srgbClr val="141E3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54880" y="2240280"/>
            <a:ext cx="6613855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attention modules applied on skeletal keypoints.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48640" y="3822192"/>
            <a:ext cx="3108960" cy="1325880"/>
          </a:xfrm>
          <a:prstGeom prst="roundRect">
            <a:avLst>
              <a:gd name="adj" fmla="val 6897"/>
            </a:avLst>
          </a:prstGeom>
          <a:solidFill>
            <a:srgbClr val="1B2740"/>
          </a:solidFill>
          <a:ln w="12700">
            <a:solidFill>
              <a:srgbClr val="25324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7240" y="3822192"/>
            <a:ext cx="26517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Viewpoint Variations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3840480" y="4256532"/>
            <a:ext cx="457200" cy="457200"/>
          </a:xfrm>
          <a:prstGeom prst="ellipse">
            <a:avLst/>
          </a:prstGeom>
          <a:solidFill>
            <a:srgbClr val="0B1220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5344" y="4311396"/>
            <a:ext cx="347472" cy="347472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4480560" y="3822192"/>
            <a:ext cx="7162495" cy="1325880"/>
          </a:xfrm>
          <a:prstGeom prst="roundRect">
            <a:avLst>
              <a:gd name="adj" fmla="val 6897"/>
            </a:avLst>
          </a:prstGeom>
          <a:solidFill>
            <a:srgbClr val="141E3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754880" y="3822192"/>
            <a:ext cx="6613855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coordinate normalization and multi-angle training datasets.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548640" y="5404104"/>
            <a:ext cx="3108960" cy="1325880"/>
          </a:xfrm>
          <a:prstGeom prst="roundRect">
            <a:avLst>
              <a:gd name="adj" fmla="val 6897"/>
            </a:avLst>
          </a:prstGeom>
          <a:solidFill>
            <a:srgbClr val="1B2740"/>
          </a:solidFill>
          <a:ln w="12700">
            <a:solidFill>
              <a:srgbClr val="25324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77240" y="5404104"/>
            <a:ext cx="26517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Edge Limits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3840480" y="5838444"/>
            <a:ext cx="457200" cy="457200"/>
          </a:xfrm>
          <a:prstGeom prst="ellipse">
            <a:avLst/>
          </a:prstGeom>
          <a:solidFill>
            <a:srgbClr val="0B1220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5344" y="5893308"/>
            <a:ext cx="347472" cy="347472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4480560" y="5404104"/>
            <a:ext cx="7162495" cy="1325880"/>
          </a:xfrm>
          <a:prstGeom prst="roundRect">
            <a:avLst>
              <a:gd name="adj" fmla="val 6897"/>
            </a:avLst>
          </a:prstGeom>
          <a:solidFill>
            <a:srgbClr val="141E3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4754880" y="5404104"/>
            <a:ext cx="6613855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quantization (TensorRT) and lightweight backbones (MobileNet).</a:t>
            </a:r>
            <a:endParaRPr lang="en-US" sz="1350" dirty="0"/>
          </a:p>
        </p:txBody>
      </p:sp>
      <p:sp>
        <p:nvSpPr>
          <p:cNvPr id="24" name="Text 19"/>
          <p:cNvSpPr/>
          <p:nvPr/>
        </p:nvSpPr>
        <p:spPr>
          <a:xfrm>
            <a:off x="11185855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Applications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87188" cy="1874520"/>
          </a:xfrm>
          <a:prstGeom prst="roundRect">
            <a:avLst>
              <a:gd name="adj" fmla="val 4878"/>
            </a:avLst>
          </a:prstGeom>
          <a:solidFill>
            <a:srgbClr val="141E30"/>
          </a:solidFill>
          <a:ln w="12700">
            <a:solidFill>
              <a:srgbClr val="2532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2391156"/>
            <a:ext cx="658368" cy="658368"/>
          </a:xfrm>
          <a:prstGeom prst="ellipse">
            <a:avLst/>
          </a:prstGeom>
          <a:solidFill>
            <a:srgbClr val="38BDF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0252" y="2470160"/>
            <a:ext cx="500360" cy="500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011680"/>
            <a:ext cx="39698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Healthcare &amp; Senior Safety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691640" y="2441448"/>
            <a:ext cx="396986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fall detection and emergency response dispatch.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55868" y="1783080"/>
            <a:ext cx="5387188" cy="1874520"/>
          </a:xfrm>
          <a:prstGeom prst="roundRect">
            <a:avLst>
              <a:gd name="adj" fmla="val 4878"/>
            </a:avLst>
          </a:prstGeom>
          <a:solidFill>
            <a:srgbClr val="141E30"/>
          </a:solidFill>
          <a:ln w="12700">
            <a:solidFill>
              <a:srgbClr val="25324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48476" y="2391156"/>
            <a:ext cx="658368" cy="658368"/>
          </a:xfrm>
          <a:prstGeom prst="ellipse">
            <a:avLst/>
          </a:prstGeom>
          <a:solidFill>
            <a:srgbClr val="38BDF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7480" y="2470160"/>
            <a:ext cx="500360" cy="5003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98868" y="2011680"/>
            <a:ext cx="39698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Security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7398868" y="2441448"/>
            <a:ext cx="396986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detection of intrusions, fights, or anomalous events.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5387188" cy="1874520"/>
          </a:xfrm>
          <a:prstGeom prst="roundRect">
            <a:avLst>
              <a:gd name="adj" fmla="val 4878"/>
            </a:avLst>
          </a:prstGeom>
          <a:solidFill>
            <a:srgbClr val="1B2740"/>
          </a:solidFill>
          <a:ln w="12700">
            <a:solidFill>
              <a:srgbClr val="25324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41248" y="4585716"/>
            <a:ext cx="658368" cy="658368"/>
          </a:xfrm>
          <a:prstGeom prst="ellipse">
            <a:avLst/>
          </a:prstGeom>
          <a:solidFill>
            <a:srgbClr val="38BDF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252" y="4664720"/>
            <a:ext cx="500360" cy="5003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206240"/>
            <a:ext cx="39698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Fitness &amp; Rehab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691640" y="4636008"/>
            <a:ext cx="396986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Posture analysis, form guidance, and exercise rep counting.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55868" y="3977640"/>
            <a:ext cx="5387188" cy="1874520"/>
          </a:xfrm>
          <a:prstGeom prst="roundRect">
            <a:avLst>
              <a:gd name="adj" fmla="val 4878"/>
            </a:avLst>
          </a:prstGeom>
          <a:solidFill>
            <a:srgbClr val="1B2740"/>
          </a:solidFill>
          <a:ln w="12700">
            <a:solidFill>
              <a:srgbClr val="25324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548476" y="4585716"/>
            <a:ext cx="658368" cy="658368"/>
          </a:xfrm>
          <a:prstGeom prst="ellipse">
            <a:avLst/>
          </a:prstGeom>
          <a:solidFill>
            <a:srgbClr val="38BDF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7480" y="4664720"/>
            <a:ext cx="500360" cy="5003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98868" y="4206240"/>
            <a:ext cx="39698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Robotics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7398868" y="4636008"/>
            <a:ext cx="396986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Touchless gesture control and safe human-robot interaction.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11185855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454298" cy="3931920"/>
          </a:xfrm>
          <a:prstGeom prst="roundRect">
            <a:avLst>
              <a:gd name="adj" fmla="val 3177"/>
            </a:avLst>
          </a:prstGeom>
          <a:solidFill>
            <a:srgbClr val="141E30"/>
          </a:solidFill>
          <a:ln w="12700">
            <a:solidFill>
              <a:srgbClr val="2532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64309" y="2377440"/>
            <a:ext cx="822960" cy="822960"/>
          </a:xfrm>
          <a:prstGeom prst="ellipse">
            <a:avLst/>
          </a:prstGeom>
          <a:solidFill>
            <a:srgbClr val="38BDF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3064" y="2476195"/>
            <a:ext cx="625450" cy="6254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474720"/>
            <a:ext cx="290565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 AI Integration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4251960"/>
            <a:ext cx="281421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7E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on low-power edge devices such as Jetson Nano and Raspberry Pi.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68698" y="1965960"/>
            <a:ext cx="3454298" cy="3931920"/>
          </a:xfrm>
          <a:prstGeom prst="roundRect">
            <a:avLst>
              <a:gd name="adj" fmla="val 3177"/>
            </a:avLst>
          </a:prstGeom>
          <a:solidFill>
            <a:srgbClr val="141E30"/>
          </a:solidFill>
          <a:ln w="12700">
            <a:solidFill>
              <a:srgbClr val="25324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684368" y="2377440"/>
            <a:ext cx="822960" cy="822960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3123" y="2476195"/>
            <a:ext cx="625450" cy="62545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43018" y="3474720"/>
            <a:ext cx="290565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Multi-Modal Fusion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688738" y="4251960"/>
            <a:ext cx="281421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7E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vision data with acoustic and thermal sensors.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188757" y="1965960"/>
            <a:ext cx="3454298" cy="3931920"/>
          </a:xfrm>
          <a:prstGeom prst="roundRect">
            <a:avLst>
              <a:gd name="adj" fmla="val 3177"/>
            </a:avLst>
          </a:prstGeom>
          <a:solidFill>
            <a:srgbClr val="141E30"/>
          </a:solidFill>
          <a:ln w="12700">
            <a:solidFill>
              <a:srgbClr val="25324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504426" y="2377440"/>
            <a:ext cx="822960" cy="822960"/>
          </a:xfrm>
          <a:prstGeom prst="ellipse">
            <a:avLst/>
          </a:prstGeom>
          <a:solidFill>
            <a:srgbClr val="38BDF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3181" y="2476195"/>
            <a:ext cx="625450" cy="62545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63077" y="3474720"/>
            <a:ext cx="290565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Zero-Shot Learning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508797" y="4251960"/>
            <a:ext cx="281421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7E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unseen human actions without dense retraining.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185855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02920" cy="502920"/>
          </a:xfrm>
          <a:prstGeom prst="ellipse">
            <a:avLst/>
          </a:prstGeom>
          <a:solidFill>
            <a:srgbClr val="38BDF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990" y="1934870"/>
            <a:ext cx="382219" cy="3822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828800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D7E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transforms raw video feeds into actionable real-time intelligence.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834640"/>
            <a:ext cx="502920" cy="502920"/>
          </a:xfrm>
          <a:prstGeom prst="ellipse">
            <a:avLst/>
          </a:prstGeom>
          <a:solidFill>
            <a:srgbClr val="38BDF8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990" y="2894990"/>
            <a:ext cx="382219" cy="38221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25880" y="2788920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D7E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Skeletal tracking combined with sequence models powers intelligent monitoring systems.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548640" y="3977640"/>
            <a:ext cx="6949440" cy="1417320"/>
          </a:xfrm>
          <a:prstGeom prst="roundRect">
            <a:avLst>
              <a:gd name="adj" fmla="val 7742"/>
            </a:avLst>
          </a:prstGeom>
          <a:solidFill>
            <a:srgbClr val="1B274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822960" y="4320540"/>
            <a:ext cx="731520" cy="731520"/>
          </a:xfrm>
          <a:prstGeom prst="ellipse">
            <a:avLst/>
          </a:prstGeom>
          <a:solidFill>
            <a:srgbClr val="38BDF8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742" y="4408322"/>
            <a:ext cx="555955" cy="55595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83080" y="3977640"/>
            <a:ext cx="54864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for Questions &amp; Discussion</a:t>
            </a:r>
            <a:endParaRPr lang="en-US" sz="1800" dirty="0"/>
          </a:p>
        </p:txBody>
      </p:sp>
      <p:sp>
        <p:nvSpPr>
          <p:cNvPr id="14" name="Shape 9"/>
          <p:cNvSpPr/>
          <p:nvPr/>
        </p:nvSpPr>
        <p:spPr>
          <a:xfrm>
            <a:off x="548640" y="5852160"/>
            <a:ext cx="6949440" cy="0"/>
          </a:xfrm>
          <a:prstGeom prst="line">
            <a:avLst/>
          </a:prstGeom>
          <a:noFill/>
          <a:ln w="12700">
            <a:solidFill>
              <a:srgbClr val="253248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548640" y="598932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Akkisetti Ganesh</a:t>
            </a:r>
            <a:pPr indent="0" marL="0">
              <a:buNone/>
            </a:pPr>
            <a:r>
              <a:rPr lang="en-US" sz="1300" dirty="0">
                <a:solidFill>
                  <a:srgbClr val="8A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Reg No: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12524619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778240" y="2011680"/>
            <a:ext cx="365760" cy="365760"/>
          </a:xfrm>
          <a:prstGeom prst="line">
            <a:avLst/>
          </a:prstGeom>
          <a:noFill/>
          <a:ln w="15875">
            <a:solidFill>
              <a:srgbClr val="38BDF8">
                <a:alpha val="60000"/>
              </a:srgbClr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 flipH="1">
            <a:off x="8503920" y="2011680"/>
            <a:ext cx="274320" cy="640080"/>
          </a:xfrm>
          <a:prstGeom prst="line">
            <a:avLst/>
          </a:prstGeom>
          <a:noFill/>
          <a:ln w="15875">
            <a:solidFill>
              <a:srgbClr val="38BDF8">
                <a:alpha val="60000"/>
              </a:srgbClr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 flipH="1">
            <a:off x="8961120" y="2377440"/>
            <a:ext cx="182880" cy="731520"/>
          </a:xfrm>
          <a:prstGeom prst="line">
            <a:avLst/>
          </a:prstGeom>
          <a:noFill/>
          <a:ln w="15875">
            <a:solidFill>
              <a:srgbClr val="38BDF8">
                <a:alpha val="60000"/>
              </a:srgbClr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144000" y="2377440"/>
            <a:ext cx="274320" cy="548640"/>
          </a:xfrm>
          <a:prstGeom prst="line">
            <a:avLst/>
          </a:prstGeom>
          <a:noFill/>
          <a:ln w="15875">
            <a:solidFill>
              <a:srgbClr val="38BDF8">
                <a:alpha val="60000"/>
              </a:srgbClr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503920" y="2651760"/>
            <a:ext cx="182880" cy="1005840"/>
          </a:xfrm>
          <a:prstGeom prst="line">
            <a:avLst/>
          </a:prstGeom>
          <a:noFill/>
          <a:ln w="15875">
            <a:solidFill>
              <a:srgbClr val="38BDF8">
                <a:alpha val="60000"/>
              </a:srgbClr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 flipH="1">
            <a:off x="8686800" y="3108960"/>
            <a:ext cx="274320" cy="548640"/>
          </a:xfrm>
          <a:prstGeom prst="line">
            <a:avLst/>
          </a:prstGeom>
          <a:noFill/>
          <a:ln w="15875">
            <a:solidFill>
              <a:srgbClr val="38BDF8">
                <a:alpha val="60000"/>
              </a:srgbClr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8686800" y="3657600"/>
            <a:ext cx="457200" cy="274320"/>
          </a:xfrm>
          <a:prstGeom prst="line">
            <a:avLst/>
          </a:prstGeom>
          <a:noFill/>
          <a:ln w="15875">
            <a:solidFill>
              <a:srgbClr val="38BDF8">
                <a:alpha val="60000"/>
              </a:srgbClr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8732520" y="1965960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4" name="Shape 19"/>
          <p:cNvSpPr/>
          <p:nvPr/>
        </p:nvSpPr>
        <p:spPr>
          <a:xfrm>
            <a:off x="9098280" y="2331720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5" name="Shape 20"/>
          <p:cNvSpPr/>
          <p:nvPr/>
        </p:nvSpPr>
        <p:spPr>
          <a:xfrm>
            <a:off x="8458200" y="2606040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6" name="Shape 21"/>
          <p:cNvSpPr/>
          <p:nvPr/>
        </p:nvSpPr>
        <p:spPr>
          <a:xfrm>
            <a:off x="8915400" y="3063240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7" name="Shape 22"/>
          <p:cNvSpPr/>
          <p:nvPr/>
        </p:nvSpPr>
        <p:spPr>
          <a:xfrm>
            <a:off x="9372600" y="2880360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8" name="Shape 23"/>
          <p:cNvSpPr/>
          <p:nvPr/>
        </p:nvSpPr>
        <p:spPr>
          <a:xfrm>
            <a:off x="8641080" y="3611880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9" name="Shape 24"/>
          <p:cNvSpPr/>
          <p:nvPr/>
        </p:nvSpPr>
        <p:spPr>
          <a:xfrm>
            <a:off x="9098280" y="3886200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0" name="Text 25"/>
          <p:cNvSpPr/>
          <p:nvPr/>
        </p:nvSpPr>
        <p:spPr>
          <a:xfrm>
            <a:off x="11185855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2026-07-21T06:09:21Z</dcterms:created>
  <dcterms:modified xsi:type="dcterms:W3CDTF">2026-07-21T06:09:21Z</dcterms:modified>
</cp:coreProperties>
</file>